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98" d="100"/>
          <a:sy n="98" d="100"/>
        </p:scale>
        <p:origin x="907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391BAF-91F8-4B50-BA74-917754362F3D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D87F4-97C9-4383-8A27-105553533F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2007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D87F4-97C9-4383-8A27-105553533FF5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8158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89CFB-3BD4-45D4-8FCC-79850387BF7C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BDF14-B3F6-4D59-8AD0-57712B8688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908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89CFB-3BD4-45D4-8FCC-79850387BF7C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BDF14-B3F6-4D59-8AD0-57712B8688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9488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89CFB-3BD4-45D4-8FCC-79850387BF7C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BDF14-B3F6-4D59-8AD0-57712B8688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6908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89CFB-3BD4-45D4-8FCC-79850387BF7C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BDF14-B3F6-4D59-8AD0-57712B8688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281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89CFB-3BD4-45D4-8FCC-79850387BF7C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BDF14-B3F6-4D59-8AD0-57712B8688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1702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89CFB-3BD4-45D4-8FCC-79850387BF7C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BDF14-B3F6-4D59-8AD0-57712B8688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3474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89CFB-3BD4-45D4-8FCC-79850387BF7C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BDF14-B3F6-4D59-8AD0-57712B8688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9175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89CFB-3BD4-45D4-8FCC-79850387BF7C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BDF14-B3F6-4D59-8AD0-57712B8688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6478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89CFB-3BD4-45D4-8FCC-79850387BF7C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BDF14-B3F6-4D59-8AD0-57712B8688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3789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89CFB-3BD4-45D4-8FCC-79850387BF7C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BDF14-B3F6-4D59-8AD0-57712B8688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1145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89CFB-3BD4-45D4-8FCC-79850387BF7C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BDF14-B3F6-4D59-8AD0-57712B8688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2418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C89CFB-3BD4-45D4-8FCC-79850387BF7C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4BDF14-B3F6-4D59-8AD0-57712B8688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9156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グループ化 108">
            <a:extLst>
              <a:ext uri="{FF2B5EF4-FFF2-40B4-BE49-F238E27FC236}">
                <a16:creationId xmlns:a16="http://schemas.microsoft.com/office/drawing/2014/main" id="{8C680029-3AC6-C51F-2BD4-4AA88DAB25CF}"/>
              </a:ext>
            </a:extLst>
          </p:cNvPr>
          <p:cNvGrpSpPr/>
          <p:nvPr/>
        </p:nvGrpSpPr>
        <p:grpSpPr>
          <a:xfrm>
            <a:off x="280799" y="212437"/>
            <a:ext cx="8672397" cy="6416108"/>
            <a:chOff x="280799" y="212437"/>
            <a:chExt cx="8672397" cy="6416108"/>
          </a:xfrm>
        </p:grpSpPr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3C4A324B-A84D-7A72-7346-AD54514E5DC4}"/>
                </a:ext>
              </a:extLst>
            </p:cNvPr>
            <p:cNvSpPr/>
            <p:nvPr/>
          </p:nvSpPr>
          <p:spPr>
            <a:xfrm>
              <a:off x="280800" y="1107785"/>
              <a:ext cx="5168266" cy="583637"/>
            </a:xfrm>
            <a:prstGeom prst="round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3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Experimental Subjects (N = 11,154)</a:t>
              </a:r>
            </a:p>
            <a:p>
              <a:pPr algn="ctr"/>
              <a:r>
                <a:rPr lang="en-US" altLang="ja-JP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 JMDP office sent out an HLA match letter to matched donors.</a:t>
              </a: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D2609834-EEB2-5542-4C36-43CC5B91A12B}"/>
                </a:ext>
              </a:extLst>
            </p:cNvPr>
            <p:cNvSpPr/>
            <p:nvPr/>
          </p:nvSpPr>
          <p:spPr>
            <a:xfrm>
              <a:off x="280799" y="3274101"/>
              <a:ext cx="5168267" cy="535406"/>
            </a:xfrm>
            <a:prstGeom prst="round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3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Positive</a:t>
              </a:r>
              <a:r>
                <a:rPr lang="ja-JP" altLang="en-US" sz="13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ja-JP" sz="13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Intention at Response (N = 6,142)</a:t>
              </a:r>
            </a:p>
            <a:p>
              <a:pPr algn="ctr"/>
              <a:r>
                <a:rPr lang="en-US" altLang="ja-JP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matched donor responded to the letter with the willingness to donate.</a:t>
              </a:r>
              <a:r>
                <a:rPr lang="en-US" altLang="ja-JP" sz="13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8F536C77-7D7A-2DF9-8BCC-799F9F336F07}"/>
                </a:ext>
              </a:extLst>
            </p:cNvPr>
            <p:cNvSpPr/>
            <p:nvPr/>
          </p:nvSpPr>
          <p:spPr>
            <a:xfrm>
              <a:off x="280802" y="212437"/>
              <a:ext cx="5168266" cy="716314"/>
            </a:xfrm>
            <a:prstGeom prst="round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3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Initial Selection (N = 11,154)</a:t>
              </a:r>
            </a:p>
            <a:p>
              <a:pPr algn="ctr"/>
              <a:r>
                <a:rPr lang="en-US" altLang="ja-JP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physician selected up to 10 matched donors</a:t>
              </a:r>
              <a:r>
                <a:rPr lang="ja-JP" altLang="en-US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ja-JP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per a patient from the list of candidates provided by JMDP.</a:t>
              </a:r>
            </a:p>
          </p:txBody>
        </p:sp>
        <p:cxnSp>
          <p:nvCxnSpPr>
            <p:cNvPr id="10" name="直線矢印コネクタ 9">
              <a:extLst>
                <a:ext uri="{FF2B5EF4-FFF2-40B4-BE49-F238E27FC236}">
                  <a16:creationId xmlns:a16="http://schemas.microsoft.com/office/drawing/2014/main" id="{1730153C-5294-2102-BC56-56406A4B6ECA}"/>
                </a:ext>
              </a:extLst>
            </p:cNvPr>
            <p:cNvCxnSpPr>
              <a:cxnSpLocks/>
              <a:stCxn id="9" idx="2"/>
              <a:endCxn id="4" idx="0"/>
            </p:cNvCxnSpPr>
            <p:nvPr/>
          </p:nvCxnSpPr>
          <p:spPr>
            <a:xfrm flipH="1">
              <a:off x="2864933" y="928751"/>
              <a:ext cx="2" cy="179034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2E23779C-2E8C-4024-A50F-6A9FA9740A93}"/>
                </a:ext>
              </a:extLst>
            </p:cNvPr>
            <p:cNvSpPr/>
            <p:nvPr/>
          </p:nvSpPr>
          <p:spPr>
            <a:xfrm>
              <a:off x="280801" y="4166062"/>
              <a:ext cx="5168265" cy="535406"/>
            </a:xfrm>
            <a:prstGeom prst="round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3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CT [Primary Outcome] (N = 2,650)</a:t>
              </a:r>
            </a:p>
            <a:p>
              <a:pPr algn="ctr"/>
              <a:r>
                <a:rPr lang="en-US" altLang="ja-JP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matched donors completed confirmatory typing.</a:t>
              </a:r>
            </a:p>
          </p:txBody>
        </p:sp>
        <p:sp>
          <p:nvSpPr>
            <p:cNvPr id="21" name="四角形: 角を丸くする 20">
              <a:extLst>
                <a:ext uri="{FF2B5EF4-FFF2-40B4-BE49-F238E27FC236}">
                  <a16:creationId xmlns:a16="http://schemas.microsoft.com/office/drawing/2014/main" id="{933782A9-806D-7430-7B49-F7C8EA215107}"/>
                </a:ext>
              </a:extLst>
            </p:cNvPr>
            <p:cNvSpPr/>
            <p:nvPr/>
          </p:nvSpPr>
          <p:spPr>
            <a:xfrm>
              <a:off x="280799" y="5058024"/>
              <a:ext cx="5168267" cy="692191"/>
            </a:xfrm>
            <a:prstGeom prst="round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3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Final Selection (N = 698)</a:t>
              </a:r>
            </a:p>
            <a:p>
              <a:pPr algn="ctr"/>
              <a:r>
                <a:rPr lang="en-US" altLang="ja-JP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matched donors were selected by physicians and proceeded to final consent and donation. </a:t>
              </a:r>
            </a:p>
          </p:txBody>
        </p:sp>
        <p:sp>
          <p:nvSpPr>
            <p:cNvPr id="40" name="四角形: 角を丸くする 39">
              <a:extLst>
                <a:ext uri="{FF2B5EF4-FFF2-40B4-BE49-F238E27FC236}">
                  <a16:creationId xmlns:a16="http://schemas.microsoft.com/office/drawing/2014/main" id="{7B4BDB77-2E0E-4F7B-0999-B0B6C80FB3AE}"/>
                </a:ext>
              </a:extLst>
            </p:cNvPr>
            <p:cNvSpPr/>
            <p:nvPr/>
          </p:nvSpPr>
          <p:spPr>
            <a:xfrm>
              <a:off x="280799" y="6093139"/>
              <a:ext cx="5168268" cy="535406"/>
            </a:xfrm>
            <a:prstGeom prst="round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3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Donation (N = 501)</a:t>
              </a:r>
            </a:p>
            <a:p>
              <a:pPr algn="ctr"/>
              <a:r>
                <a:rPr lang="en-US" altLang="ja-JP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Stem cells were collected from a matched donor. </a:t>
              </a:r>
            </a:p>
          </p:txBody>
        </p:sp>
        <p:sp>
          <p:nvSpPr>
            <p:cNvPr id="25" name="四角形: 角を丸くする 24">
              <a:extLst>
                <a:ext uri="{FF2B5EF4-FFF2-40B4-BE49-F238E27FC236}">
                  <a16:creationId xmlns:a16="http://schemas.microsoft.com/office/drawing/2014/main" id="{0B0AE75D-0534-052A-472A-3A533759D735}"/>
                </a:ext>
              </a:extLst>
            </p:cNvPr>
            <p:cNvSpPr/>
            <p:nvPr/>
          </p:nvSpPr>
          <p:spPr>
            <a:xfrm>
              <a:off x="5610707" y="1337007"/>
              <a:ext cx="3317289" cy="104720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3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Excluded (N = 105)</a:t>
              </a:r>
            </a:p>
            <a:p>
              <a:pPr marL="214313" indent="-214313">
                <a:buFont typeface="Arial" panose="020B0604020202020204" pitchFamily="34" charset="0"/>
                <a:buChar char="•"/>
              </a:pPr>
              <a:r>
                <a:rPr lang="en-US" altLang="ja-JP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Coordination involving a matched donor lived abroad (N = 1)</a:t>
              </a:r>
            </a:p>
            <a:p>
              <a:pPr marL="214313" indent="-214313">
                <a:buFont typeface="Arial" panose="020B0604020202020204" pitchFamily="34" charset="0"/>
                <a:buChar char="•"/>
              </a:pPr>
              <a:r>
                <a:rPr lang="en-US" altLang="ja-JP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Ongoing coordination at the time of data collection (N = 104)</a:t>
              </a:r>
            </a:p>
          </p:txBody>
        </p:sp>
        <p:sp>
          <p:nvSpPr>
            <p:cNvPr id="33" name="四角形: 角を丸くする 32">
              <a:extLst>
                <a:ext uri="{FF2B5EF4-FFF2-40B4-BE49-F238E27FC236}">
                  <a16:creationId xmlns:a16="http://schemas.microsoft.com/office/drawing/2014/main" id="{51F47837-B9FD-C825-EE73-D3F9BFFEB919}"/>
                </a:ext>
              </a:extLst>
            </p:cNvPr>
            <p:cNvSpPr/>
            <p:nvPr/>
          </p:nvSpPr>
          <p:spPr>
            <a:xfrm>
              <a:off x="280799" y="2083863"/>
              <a:ext cx="5168267" cy="579221"/>
            </a:xfrm>
            <a:prstGeom prst="round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3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Analysis Sample (N = 11,049)</a:t>
              </a:r>
            </a:p>
            <a:p>
              <a:pPr algn="ctr"/>
              <a:r>
                <a:rPr lang="en-US" altLang="ja-JP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Coordination involving a matched donor who lived in Japan.</a:t>
              </a:r>
            </a:p>
          </p:txBody>
        </p:sp>
        <p:cxnSp>
          <p:nvCxnSpPr>
            <p:cNvPr id="51" name="直線矢印コネクタ 50">
              <a:extLst>
                <a:ext uri="{FF2B5EF4-FFF2-40B4-BE49-F238E27FC236}">
                  <a16:creationId xmlns:a16="http://schemas.microsoft.com/office/drawing/2014/main" id="{6F99A2E3-0190-D0A4-8560-D905E0990411}"/>
                </a:ext>
              </a:extLst>
            </p:cNvPr>
            <p:cNvCxnSpPr>
              <a:cxnSpLocks/>
              <a:stCxn id="4" idx="2"/>
              <a:endCxn id="33" idx="0"/>
            </p:cNvCxnSpPr>
            <p:nvPr/>
          </p:nvCxnSpPr>
          <p:spPr>
            <a:xfrm>
              <a:off x="2864933" y="1691422"/>
              <a:ext cx="0" cy="39244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矢印コネクタ 53">
              <a:extLst>
                <a:ext uri="{FF2B5EF4-FFF2-40B4-BE49-F238E27FC236}">
                  <a16:creationId xmlns:a16="http://schemas.microsoft.com/office/drawing/2014/main" id="{3AB16172-137D-6A44-4715-FE8E2DE17C6D}"/>
                </a:ext>
              </a:extLst>
            </p:cNvPr>
            <p:cNvCxnSpPr>
              <a:cxnSpLocks/>
              <a:endCxn id="25" idx="1"/>
            </p:cNvCxnSpPr>
            <p:nvPr/>
          </p:nvCxnSpPr>
          <p:spPr>
            <a:xfrm flipV="1">
              <a:off x="2864932" y="1860608"/>
              <a:ext cx="2745775" cy="1472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矢印コネクタ 57">
              <a:extLst>
                <a:ext uri="{FF2B5EF4-FFF2-40B4-BE49-F238E27FC236}">
                  <a16:creationId xmlns:a16="http://schemas.microsoft.com/office/drawing/2014/main" id="{64CEF9B8-A21B-2A7C-3023-2DBCFD12B232}"/>
                </a:ext>
              </a:extLst>
            </p:cNvPr>
            <p:cNvCxnSpPr>
              <a:cxnSpLocks/>
              <a:stCxn id="33" idx="2"/>
              <a:endCxn id="5" idx="0"/>
            </p:cNvCxnSpPr>
            <p:nvPr/>
          </p:nvCxnSpPr>
          <p:spPr>
            <a:xfrm>
              <a:off x="2864933" y="2663084"/>
              <a:ext cx="0" cy="61101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矢印コネクタ 60">
              <a:extLst>
                <a:ext uri="{FF2B5EF4-FFF2-40B4-BE49-F238E27FC236}">
                  <a16:creationId xmlns:a16="http://schemas.microsoft.com/office/drawing/2014/main" id="{829E5E65-467D-4EB3-2548-094CFC9D2534}"/>
                </a:ext>
              </a:extLst>
            </p:cNvPr>
            <p:cNvCxnSpPr>
              <a:cxnSpLocks/>
              <a:stCxn id="5" idx="2"/>
              <a:endCxn id="16" idx="0"/>
            </p:cNvCxnSpPr>
            <p:nvPr/>
          </p:nvCxnSpPr>
          <p:spPr>
            <a:xfrm>
              <a:off x="2864933" y="3809507"/>
              <a:ext cx="1" cy="356555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線矢印コネクタ 63">
              <a:extLst>
                <a:ext uri="{FF2B5EF4-FFF2-40B4-BE49-F238E27FC236}">
                  <a16:creationId xmlns:a16="http://schemas.microsoft.com/office/drawing/2014/main" id="{0E95743F-0C2D-4665-3C91-58314C2A2003}"/>
                </a:ext>
              </a:extLst>
            </p:cNvPr>
            <p:cNvCxnSpPr>
              <a:cxnSpLocks/>
              <a:stCxn id="16" idx="2"/>
              <a:endCxn id="21" idx="0"/>
            </p:cNvCxnSpPr>
            <p:nvPr/>
          </p:nvCxnSpPr>
          <p:spPr>
            <a:xfrm flipH="1">
              <a:off x="2864933" y="4701468"/>
              <a:ext cx="1" cy="356556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矢印コネクタ 66">
              <a:extLst>
                <a:ext uri="{FF2B5EF4-FFF2-40B4-BE49-F238E27FC236}">
                  <a16:creationId xmlns:a16="http://schemas.microsoft.com/office/drawing/2014/main" id="{1B6EBE48-5D4F-8B57-C4CF-EBF265B8BAD2}"/>
                </a:ext>
              </a:extLst>
            </p:cNvPr>
            <p:cNvCxnSpPr>
              <a:cxnSpLocks/>
              <a:stCxn id="21" idx="2"/>
              <a:endCxn id="40" idx="0"/>
            </p:cNvCxnSpPr>
            <p:nvPr/>
          </p:nvCxnSpPr>
          <p:spPr>
            <a:xfrm>
              <a:off x="2864933" y="5750215"/>
              <a:ext cx="0" cy="342924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四角形: 角を丸くする 70">
              <a:extLst>
                <a:ext uri="{FF2B5EF4-FFF2-40B4-BE49-F238E27FC236}">
                  <a16:creationId xmlns:a16="http://schemas.microsoft.com/office/drawing/2014/main" id="{F731286D-3F97-0F6C-80B9-259E319F8825}"/>
                </a:ext>
              </a:extLst>
            </p:cNvPr>
            <p:cNvSpPr/>
            <p:nvPr/>
          </p:nvSpPr>
          <p:spPr>
            <a:xfrm>
              <a:off x="5610706" y="2498663"/>
              <a:ext cx="3342490" cy="1150997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3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Dropout (N = 4,907)</a:t>
              </a:r>
            </a:p>
            <a:p>
              <a:pPr marL="214313" indent="-214313">
                <a:buFont typeface="Arial" panose="020B0604020202020204" pitchFamily="34" charset="0"/>
                <a:buChar char="•"/>
              </a:pPr>
              <a:r>
                <a:rPr lang="en-US" altLang="ja-JP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matched donor did not respond</a:t>
              </a:r>
              <a:br>
                <a:rPr lang="en-US" altLang="ja-JP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ja-JP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(N = 1,311)</a:t>
              </a:r>
            </a:p>
            <a:p>
              <a:pPr marL="214313" indent="-214313">
                <a:buFont typeface="Arial" panose="020B0604020202020204" pitchFamily="34" charset="0"/>
                <a:buChar char="•"/>
              </a:pPr>
              <a:r>
                <a:rPr lang="en-US" altLang="ja-JP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matched donor responded to the letter but refused donation (N = 3,596)</a:t>
              </a:r>
            </a:p>
          </p:txBody>
        </p:sp>
        <p:cxnSp>
          <p:nvCxnSpPr>
            <p:cNvPr id="93" name="直線矢印コネクタ 92">
              <a:extLst>
                <a:ext uri="{FF2B5EF4-FFF2-40B4-BE49-F238E27FC236}">
                  <a16:creationId xmlns:a16="http://schemas.microsoft.com/office/drawing/2014/main" id="{842F1DDA-BFD6-6B5C-7A20-049B5D00645A}"/>
                </a:ext>
              </a:extLst>
            </p:cNvPr>
            <p:cNvCxnSpPr>
              <a:cxnSpLocks/>
              <a:endCxn id="71" idx="1"/>
            </p:cNvCxnSpPr>
            <p:nvPr/>
          </p:nvCxnSpPr>
          <p:spPr>
            <a:xfrm>
              <a:off x="2860313" y="3074162"/>
              <a:ext cx="275039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四角形: 角を丸くする 95">
              <a:extLst>
                <a:ext uri="{FF2B5EF4-FFF2-40B4-BE49-F238E27FC236}">
                  <a16:creationId xmlns:a16="http://schemas.microsoft.com/office/drawing/2014/main" id="{A058E6B9-24BA-9A25-6F12-79B127C61166}"/>
                </a:ext>
              </a:extLst>
            </p:cNvPr>
            <p:cNvSpPr/>
            <p:nvPr/>
          </p:nvSpPr>
          <p:spPr>
            <a:xfrm>
              <a:off x="5610706" y="3695942"/>
              <a:ext cx="3317287" cy="908051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3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Dropout (N = 3,492)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ja-JP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Donor-related dropout (N = 2,942)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ja-JP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Patient-related dropout (N = 550) </a:t>
              </a:r>
            </a:p>
          </p:txBody>
        </p:sp>
        <p:cxnSp>
          <p:nvCxnSpPr>
            <p:cNvPr id="97" name="直線矢印コネクタ 96">
              <a:extLst>
                <a:ext uri="{FF2B5EF4-FFF2-40B4-BE49-F238E27FC236}">
                  <a16:creationId xmlns:a16="http://schemas.microsoft.com/office/drawing/2014/main" id="{FF0A1ECC-928B-7614-E28A-E43B69C670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64931" y="3982195"/>
              <a:ext cx="2745775" cy="19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四角形: 角を丸くする 100">
              <a:extLst>
                <a:ext uri="{FF2B5EF4-FFF2-40B4-BE49-F238E27FC236}">
                  <a16:creationId xmlns:a16="http://schemas.microsoft.com/office/drawing/2014/main" id="{9EDE82BF-C28C-23F6-EAB2-688779ADE6FA}"/>
                </a:ext>
              </a:extLst>
            </p:cNvPr>
            <p:cNvSpPr/>
            <p:nvPr/>
          </p:nvSpPr>
          <p:spPr>
            <a:xfrm>
              <a:off x="5610706" y="4650276"/>
              <a:ext cx="1906092" cy="440874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3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Dropout (N = 1,952)</a:t>
              </a:r>
              <a:endParaRPr lang="en-US" altLang="ja-JP" sz="1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2" name="直線矢印コネクタ 101">
              <a:extLst>
                <a:ext uri="{FF2B5EF4-FFF2-40B4-BE49-F238E27FC236}">
                  <a16:creationId xmlns:a16="http://schemas.microsoft.com/office/drawing/2014/main" id="{C137A6CF-DCD9-C5DE-58C7-9A0824A19F04}"/>
                </a:ext>
              </a:extLst>
            </p:cNvPr>
            <p:cNvCxnSpPr>
              <a:cxnSpLocks/>
              <a:endCxn id="101" idx="1"/>
            </p:cNvCxnSpPr>
            <p:nvPr/>
          </p:nvCxnSpPr>
          <p:spPr>
            <a:xfrm flipV="1">
              <a:off x="2860313" y="4870713"/>
              <a:ext cx="2750393" cy="9033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四角形: 角を丸くする 104">
              <a:extLst>
                <a:ext uri="{FF2B5EF4-FFF2-40B4-BE49-F238E27FC236}">
                  <a16:creationId xmlns:a16="http://schemas.microsoft.com/office/drawing/2014/main" id="{BE0460C9-C97F-702B-B630-92A7DDFC29E5}"/>
                </a:ext>
              </a:extLst>
            </p:cNvPr>
            <p:cNvSpPr/>
            <p:nvPr/>
          </p:nvSpPr>
          <p:spPr>
            <a:xfrm>
              <a:off x="5610706" y="5536437"/>
              <a:ext cx="3317290" cy="74996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35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Dropout (N = 197)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altLang="ja-JP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Dropout before final consent</a:t>
              </a:r>
              <a:r>
                <a:rPr lang="ja-JP" altLang="en-US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ja-JP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(N</a:t>
              </a:r>
              <a:r>
                <a:rPr lang="ja-JP" altLang="en-US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ja-JP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ja-JP" altLang="en-US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ja-JP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74)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altLang="ja-JP" sz="135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Dropout after final consent (N </a:t>
              </a:r>
              <a:r>
                <a:rPr lang="en-US" altLang="ja-JP" sz="135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123)</a:t>
              </a:r>
              <a:endParaRPr lang="en-US" altLang="ja-JP" sz="13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6" name="直線矢印コネクタ 105">
              <a:extLst>
                <a:ext uri="{FF2B5EF4-FFF2-40B4-BE49-F238E27FC236}">
                  <a16:creationId xmlns:a16="http://schemas.microsoft.com/office/drawing/2014/main" id="{6F020345-7104-9D17-39C6-E35DC5BFEE42}"/>
                </a:ext>
              </a:extLst>
            </p:cNvPr>
            <p:cNvCxnSpPr>
              <a:cxnSpLocks/>
              <a:endCxn id="105" idx="1"/>
            </p:cNvCxnSpPr>
            <p:nvPr/>
          </p:nvCxnSpPr>
          <p:spPr>
            <a:xfrm>
              <a:off x="2860313" y="5911417"/>
              <a:ext cx="275039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61794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226</TotalTime>
  <Words>255</Words>
  <Application>Microsoft Office PowerPoint</Application>
  <PresentationFormat>画面に合わせる (4:3)</PresentationFormat>
  <Paragraphs>28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Aptos</vt:lpstr>
      <vt:lpstr>Aptos Display</vt:lpstr>
      <vt:lpstr>Arial</vt:lpstr>
      <vt:lpstr>Times New Roman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Hiroki Kato</dc:creator>
  <cp:lastModifiedBy>Hiroki Kato</cp:lastModifiedBy>
  <cp:revision>13</cp:revision>
  <dcterms:created xsi:type="dcterms:W3CDTF">2025-10-25T06:25:45Z</dcterms:created>
  <dcterms:modified xsi:type="dcterms:W3CDTF">2026-03-28T07:46:37Z</dcterms:modified>
</cp:coreProperties>
</file>