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95" d="100"/>
          <a:sy n="95" d="100"/>
        </p:scale>
        <p:origin x="67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A93B77-0FB9-7D02-9BB6-DACBED54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8A22F37-0897-ECE2-8B38-465A72E50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9693A6-B427-1D3F-22BF-59EE26E70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016C2E-85C0-9E12-AB6D-F25D63701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766003-5666-EB49-31F5-E8BD959A1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3908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412E1B-C792-E6FB-7F76-0F3FF3557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5D31BB-A106-909D-2018-1ADF52819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0E3145-D4D8-77F7-168F-B2A0ACDD5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F3C4D6F-B5D8-74F4-87BB-0352EC92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2CB4EB-2466-6300-C8EA-51B53E2D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9140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3225C2-DC6D-B6C1-161F-55B43874D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C02F6F-886A-FC78-4FC7-3D018B959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206F7-47F8-FA78-A8D4-DDC390DF4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DEAE88-10B5-916F-6D67-7E99A1C69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ED371E-B395-AF89-BEF3-9A54F31B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7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5EB2B-9DF6-C763-CAD3-7CF1588CF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247784-58BC-A6AD-D816-0BC4FEDC5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99B13E4-0CB7-A551-02EF-AE9AF66084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20F514-045E-3228-8FB4-56332DBA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D2C465-3476-6477-C298-D464CCD4A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1005CC3-8795-3686-428E-D8CF2FFD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15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50470A-C9ED-6A73-264C-FB84E21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D1ADEEB-0478-E5FC-D82E-4C674F6C3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6CD5506-99D9-7DE3-DEDC-099D1B03D9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35ECECD-6136-B110-D53C-805CFBE0FF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9E5ED96-1B02-6E42-7185-A56CC6FFED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C1536E-8BBB-43BC-713A-F2755961A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46141C5-6293-30AC-4322-0EBFAD848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AE58CDF-E48E-59EA-D594-F07D47A3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298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BD1D72-D235-11A0-BE64-BFA1F5D2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C97AC50-0CBB-676A-E904-AB94364AD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7BCC646-17C9-5BD7-64AC-F478F22A7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BBF2CC-8D84-9041-F130-23ECEFB41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83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E56BDA-C5C2-766F-6876-E3B3371B6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959D7CA-2C2E-1893-73F1-123539C63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F12141-F7E9-99E0-2152-75DB29D64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958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08578D-43D7-433C-0457-DBDAB33E4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A967A1-1360-70C1-7BF5-BAE73C654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8BA6E33-6934-CD20-78F0-D4C6B30EB5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660329B-2CA6-8032-9842-48BC065A3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552F78-A1B7-259F-1585-EE7B4770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628A7D6-B75E-1E6E-BB9A-B138FE131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9143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66A30F-D8F9-C87B-B4D8-71C037603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B10BEDB-3175-F653-EF21-6110E1363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43083D-8C3B-4C8B-B2E4-EEAA56DB2F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0F4059-0247-D99C-DFDD-4057FC3AB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D518ED-4ECE-D086-4494-C013B4B3E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B092BC-4BB5-59A9-0AF1-F42CB05A5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0756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7A1139-2618-DC0E-5398-3388FC7B1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2F78F55-B4BE-9AC9-6178-01BE22B90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18B545-BC32-A0B0-57AD-4776C205B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B93AE1-6D0D-3C17-7C57-02AE55951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107917-12AE-D83E-A980-64EA31DC5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0963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440BE14-0F11-D55F-5F3F-0C7F4910F8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35CAAC-2854-6B65-D146-BF63C35D9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811BE6-7A1D-30D3-93EB-D171E5823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7964F6-2044-2B64-20AC-8EB7C19C6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73E299-9783-733A-718F-69668CEB5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478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FA18D64-5868-232D-26C0-4734DE71A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B8EF06-D01B-7B0C-89F7-0A5B249A2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DAFF62-052E-9173-9FBC-DA13908EF9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89CFB-3BD4-45D4-8FCC-79850387BF7C}" type="datetimeFigureOut">
              <a:rPr kumimoji="1" lang="ja-JP" altLang="en-US" smtClean="0"/>
              <a:t>2025/10/25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6025BD-1AD6-564C-BBE6-37020D1CA5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216F42-E9FA-2C4A-75A5-CFE21ED7F0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6470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4AC4D6AA-5A73-50D6-809B-24D1F694A6F1}"/>
              </a:ext>
            </a:extLst>
          </p:cNvPr>
          <p:cNvGrpSpPr/>
          <p:nvPr/>
        </p:nvGrpSpPr>
        <p:grpSpPr>
          <a:xfrm>
            <a:off x="766011" y="395035"/>
            <a:ext cx="10659978" cy="6067929"/>
            <a:chOff x="581527" y="128337"/>
            <a:chExt cx="10659978" cy="6067929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3C4A324B-A84D-7A72-7346-AD54514E5DC4}"/>
                </a:ext>
              </a:extLst>
            </p:cNvPr>
            <p:cNvSpPr/>
            <p:nvPr/>
          </p:nvSpPr>
          <p:spPr>
            <a:xfrm>
              <a:off x="581527" y="1199148"/>
              <a:ext cx="10659978" cy="713874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JMDP office sent out 11,049 HLA match letters to matched donors from September 2021 to February 2022.</a:t>
              </a:r>
            </a:p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(Experimental subjects)</a:t>
              </a: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2609834-EEB2-5542-4C36-43CC5B91A12B}"/>
                </a:ext>
              </a:extLst>
            </p:cNvPr>
            <p:cNvSpPr/>
            <p:nvPr/>
          </p:nvSpPr>
          <p:spPr>
            <a:xfrm>
              <a:off x="581527" y="2269959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9,738 coordination cases where matched donors responded to HLA match letters.</a:t>
              </a: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A9CBA9C4-08F4-97E9-4B7C-A7A152F3E7B7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>
              <a:off x="5911516" y="1913022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8F536C77-7D7A-2DF9-8BCC-799F9F336F07}"/>
                </a:ext>
              </a:extLst>
            </p:cNvPr>
            <p:cNvSpPr/>
            <p:nvPr/>
          </p:nvSpPr>
          <p:spPr>
            <a:xfrm>
              <a:off x="581527" y="128337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physician selected up to 10 matched donors from the list of candidates provided by JMDP.</a:t>
              </a: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1730153C-5294-2102-BC56-56406A4B6ECA}"/>
                </a:ext>
              </a:extLst>
            </p:cNvPr>
            <p:cNvCxnSpPr>
              <a:cxnSpLocks/>
              <a:stCxn id="9" idx="2"/>
              <a:endCxn id="4" idx="0"/>
            </p:cNvCxnSpPr>
            <p:nvPr/>
          </p:nvCxnSpPr>
          <p:spPr>
            <a:xfrm>
              <a:off x="5911516" y="842211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2E23779C-2E8C-4024-A50F-6A9FA9740A93}"/>
                </a:ext>
              </a:extLst>
            </p:cNvPr>
            <p:cNvSpPr/>
            <p:nvPr/>
          </p:nvSpPr>
          <p:spPr>
            <a:xfrm>
              <a:off x="581527" y="3340770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2,651 coordination cases where matched donors completed confirmatory typing (CT stage).</a:t>
              </a:r>
            </a:p>
          </p:txBody>
        </p: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C2158755-2AC7-22BD-1723-55EDF7CB70B2}"/>
                </a:ext>
              </a:extLst>
            </p:cNvPr>
            <p:cNvCxnSpPr>
              <a:cxnSpLocks/>
              <a:stCxn id="5" idx="2"/>
              <a:endCxn id="16" idx="0"/>
            </p:cNvCxnSpPr>
            <p:nvPr/>
          </p:nvCxnSpPr>
          <p:spPr>
            <a:xfrm>
              <a:off x="5911516" y="2983833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933782A9-806D-7430-7B49-F7C8EA215107}"/>
                </a:ext>
              </a:extLst>
            </p:cNvPr>
            <p:cNvSpPr/>
            <p:nvPr/>
          </p:nvSpPr>
          <p:spPr>
            <a:xfrm>
              <a:off x="581527" y="4411581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701 coordination cases where matched donors were selected by physicians and proceeded to final consent. </a:t>
              </a: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3A24C6E-1C1B-D197-96E3-6F9401863424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>
              <a:off x="5911516" y="4054644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7B4BDB77-2E0E-4F7B-0999-B0B6C80FB3AE}"/>
                </a:ext>
              </a:extLst>
            </p:cNvPr>
            <p:cNvSpPr/>
            <p:nvPr/>
          </p:nvSpPr>
          <p:spPr>
            <a:xfrm>
              <a:off x="581527" y="5482392"/>
              <a:ext cx="10659978" cy="71387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503 coordination cases where stem cells were collected from matched donors. </a:t>
              </a:r>
            </a:p>
          </p:txBody>
        </p: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120F2294-3EE4-C30A-91DC-54253DB8925F}"/>
                </a:ext>
              </a:extLst>
            </p:cNvPr>
            <p:cNvCxnSpPr>
              <a:cxnSpLocks/>
              <a:stCxn id="21" idx="2"/>
              <a:endCxn id="40" idx="0"/>
            </p:cNvCxnSpPr>
            <p:nvPr/>
          </p:nvCxnSpPr>
          <p:spPr>
            <a:xfrm>
              <a:off x="5911516" y="5125455"/>
              <a:ext cx="0" cy="356937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</Words>
  <Application>Microsoft Office PowerPoint</Application>
  <PresentationFormat>ワイド画面</PresentationFormat>
  <Paragraphs>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Hiroki Kato</dc:creator>
  <cp:lastModifiedBy>Hiroki Kato</cp:lastModifiedBy>
  <cp:revision>1</cp:revision>
  <dcterms:created xsi:type="dcterms:W3CDTF">2025-10-25T06:25:45Z</dcterms:created>
  <dcterms:modified xsi:type="dcterms:W3CDTF">2025-10-25T06:26:08Z</dcterms:modified>
</cp:coreProperties>
</file>